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17" r:id="rId2"/>
    <p:sldId id="319" r:id="rId3"/>
    <p:sldId id="318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5"/>
    <p:restoredTop sz="94658"/>
  </p:normalViewPr>
  <p:slideViewPr>
    <p:cSldViewPr snapToGrid="0">
      <p:cViewPr varScale="1">
        <p:scale>
          <a:sx n="109" d="100"/>
          <a:sy n="109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58053-7DFA-8549-B54D-05CAC7623699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986CD-2D9C-F84D-912C-6E0797A24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9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72DEC70-786B-489E-8613-8EE821B02349}" type="datetime1">
              <a:rPr lang="de-DE" smtClean="0"/>
              <a:t>08.03.26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Fachbereich | Institut | Person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81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4A05-CC27-7E7F-177E-00F414066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D3502-A119-0F1F-4ABC-D9BC2ADFD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1B02D-C177-B59F-2C0E-F8C99A06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7FA9D-76C1-87D0-3815-9902B67F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9AC5B-9286-1A53-C4D8-951370C6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7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DDFD2-1A7E-7980-0B1B-2CC4A211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99E7-0052-134D-0BA0-CB40578F3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514F4-2DFC-3AEF-544F-21C55609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44F86-1A5E-4F66-719E-499913E3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FDC12-215A-B646-51C3-414F1921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1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5AC4-DB45-01AB-F74B-05F3524A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81652-CE97-6D23-8783-0804B5DF4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2EDB7-9E5C-F4C3-E609-567DCEF1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E6FB1-FD0C-9979-C6D3-FFCC98DC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9AA45-19C6-F185-C9A4-19D1861B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8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E06C-D7A9-D1EC-C14F-A747F819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5762-EC67-9083-E410-593738534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A841E-7D33-BCFC-2A8D-556735B32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314EA-D54B-8312-13BF-3A45F2B6E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C2111-E533-7F11-5754-D8AA355C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B8C3-5E97-7973-AB47-D72E916A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5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42BC-212E-399D-EDF1-D9968AFF6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F26DA-314B-F3CA-AE9B-D029CB4E8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15A9F-7F4E-8EAF-8532-28367E67A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69540-DF82-305D-4B11-AE3671266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B4C9F-41DE-E53C-3F41-ACC56D85E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E47934-8062-D189-DEFB-1A3560A9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DDC22-EEBD-71E2-DEB2-FC031840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45B1D-A830-4208-A215-C3BD9787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8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8BB21-18EF-53A2-B52B-A241EE78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39386-9ACE-04C7-5B8A-CF9F2404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4246F-D847-C99D-AE41-E0148961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CC8CB-56C4-6707-410E-30F188E8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0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36F02-3442-474E-6CB9-0465551C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E08D55-7B79-3226-F1B2-4A63C0B8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D41D-9645-ABC8-9624-26930BCD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7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61A7-A78A-78EE-F02D-5C8E708E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BCCE1-68E4-5B00-3B7A-32DB35737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D2BA1-B38D-4CA1-300A-F01533541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1C1F3-EB8D-9A8A-59B6-D5C492A1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78BB8-93C9-AD12-C4DD-661D2216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42C84-33A4-37FF-1865-80F923C9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5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9AF2-778F-0A74-D625-4D3277E8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E6378-DBD0-C4E0-8BF6-06A8FE269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4D3EC-C7F3-4400-2586-79990D014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975C1-A0B6-3AD2-5D58-6865CC41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253AA-3A42-D7F5-4F98-A29DA9CD0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F1D51-24E5-80F5-2B71-416C3669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6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C645-8EB8-E4F0-B2A4-454A6408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29B54-54E5-1A42-202A-5177FF179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A7722-9082-BAC3-D883-2AA3FEB10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D404-6224-8DA4-2BA3-AD4D7200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286AE-E3D4-26D8-E910-02E553E6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4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20A8E1-D5C6-F52C-89CD-206E65B2E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B1198-0DB4-1665-6351-BACE26BA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4B054-D0FA-F7BE-D5EB-619CF3BD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41C22-1260-18BA-3C46-14B529BF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5B70-0AE6-ED17-7E0C-BDCAB22D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CA677-51E9-2EAE-AAF6-C492919A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095F7-5FF8-418E-CE9F-A618FFB8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31964-5C13-DEF6-4E33-2D202119E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DE742-B573-BC48-AF69-33EDC400D07D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1255A-C263-6874-DA8C-BB5A93E02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585D-EDAF-E9BB-E7C4-C3DAA924E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896FB-88F3-BC49-9AC0-77FB23034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4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world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8153189E-8A8B-9FA3-D414-0DF9050BAF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13" t="20204" r="24167" b="17075"/>
          <a:stretch>
            <a:fillRect/>
          </a:stretch>
        </p:blipFill>
        <p:spPr>
          <a:xfrm>
            <a:off x="1976228" y="2297244"/>
            <a:ext cx="7294514" cy="4189513"/>
          </a:xfrm>
          <a:prstGeom prst="rect">
            <a:avLst/>
          </a:prstGeom>
        </p:spPr>
      </p:pic>
      <p:pic>
        <p:nvPicPr>
          <p:cNvPr id="54" name="Picture 53" descr="A profile of a person's head&#10;&#10;AI-generated content may be incorrect.">
            <a:extLst>
              <a:ext uri="{FF2B5EF4-FFF2-40B4-BE49-F238E27FC236}">
                <a16:creationId xmlns:a16="http://schemas.microsoft.com/office/drawing/2014/main" id="{1F6505F7-E9C1-3E9A-3D5B-068AAFB26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4" t="11194" b="15503"/>
          <a:stretch>
            <a:fillRect/>
          </a:stretch>
        </p:blipFill>
        <p:spPr>
          <a:xfrm flipH="1">
            <a:off x="-12000" y="1412974"/>
            <a:ext cx="2856000" cy="2979027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 prstMaterial="clear"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B262C1-3BC2-0998-CE26-345F73101B8B}"/>
              </a:ext>
            </a:extLst>
          </p:cNvPr>
          <p:cNvSpPr txBox="1"/>
          <p:nvPr/>
        </p:nvSpPr>
        <p:spPr>
          <a:xfrm>
            <a:off x="1415999" y="807776"/>
            <a:ext cx="9360000" cy="125099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sz="2600" b="1" kern="1200" cap="all" baseline="0" dirty="0" err="1">
                <a:latin typeface="Arial Black" panose="020B0A04020102020204" pitchFamily="34" charset="0"/>
                <a:ea typeface="+mj-ea"/>
                <a:cs typeface="+mj-cs"/>
              </a:rPr>
              <a:t>GooGLE</a:t>
            </a:r>
            <a:r>
              <a:rPr lang="de-DE" sz="2600" b="1" kern="1200" cap="all" baseline="0" dirty="0">
                <a:latin typeface="Arial Black" panose="020B0A04020102020204" pitchFamily="34" charset="0"/>
                <a:ea typeface="+mj-ea"/>
                <a:cs typeface="+mj-cs"/>
              </a:rPr>
              <a:t> </a:t>
            </a:r>
            <a:r>
              <a:rPr lang="de-DE" sz="1600" b="1" kern="1200" cap="all" baseline="0" dirty="0" err="1">
                <a:latin typeface="Arial Black" panose="020B0A04020102020204" pitchFamily="34" charset="0"/>
                <a:ea typeface="+mj-ea"/>
                <a:cs typeface="+mj-cs"/>
              </a:rPr>
              <a:t>vs</a:t>
            </a:r>
            <a:r>
              <a:rPr lang="de-DE" sz="2600" b="1" kern="1200" cap="all" baseline="0" dirty="0">
                <a:latin typeface="Arial Black" panose="020B0A04020102020204" pitchFamily="34" charset="0"/>
                <a:ea typeface="+mj-ea"/>
                <a:cs typeface="+mj-cs"/>
              </a:rPr>
              <a:t> Wikipedia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sz="2600" b="1" cap="all" dirty="0">
                <a:latin typeface="Arial Black" panose="020B0A04020102020204" pitchFamily="34" charset="0"/>
                <a:ea typeface="+mj-ea"/>
                <a:cs typeface="+mj-cs"/>
              </a:rPr>
              <a:t>Trend </a:t>
            </a:r>
            <a:r>
              <a:rPr lang="de-DE" sz="2600" b="1" cap="all" dirty="0" err="1">
                <a:latin typeface="Arial Black" panose="020B0A04020102020204" pitchFamily="34" charset="0"/>
                <a:ea typeface="+mj-ea"/>
                <a:cs typeface="+mj-cs"/>
              </a:rPr>
              <a:t>divergence</a:t>
            </a:r>
            <a:r>
              <a:rPr lang="de-DE" sz="2600" b="1" cap="all" dirty="0">
                <a:latin typeface="Arial Black" panose="020B0A04020102020204" pitchFamily="34" charset="0"/>
                <a:ea typeface="+mj-ea"/>
                <a:cs typeface="+mj-cs"/>
              </a:rPr>
              <a:t> </a:t>
            </a:r>
            <a:r>
              <a:rPr lang="de-DE" sz="2600" b="1" cap="all" dirty="0" err="1">
                <a:latin typeface="Arial Black" panose="020B0A04020102020204" pitchFamily="34" charset="0"/>
                <a:ea typeface="+mj-ea"/>
                <a:cs typeface="+mj-cs"/>
              </a:rPr>
              <a:t>analysis</a:t>
            </a:r>
            <a:endParaRPr lang="de-DE" sz="2600" b="1" kern="1200" cap="all" baseline="0" dirty="0"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E65AEA5D-5A84-3C7E-4F8E-0E03A7665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5073775"/>
            <a:ext cx="9360000" cy="1080000"/>
          </a:xfrm>
        </p:spPr>
        <p:txBody>
          <a:bodyPr>
            <a:normAutofit/>
          </a:bodyPr>
          <a:lstStyle/>
          <a:p>
            <a:r>
              <a:rPr lang="en-US" b="1" i="1" dirty="0">
                <a:highlight>
                  <a:srgbClr val="C0C0C0"/>
                </a:highlight>
              </a:rPr>
              <a:t>Presentation by</a:t>
            </a:r>
          </a:p>
          <a:p>
            <a:r>
              <a:rPr lang="en-US" b="1" dirty="0">
                <a:highlight>
                  <a:srgbClr val="C0C0C0"/>
                </a:highlight>
              </a:rPr>
              <a:t>Standard Deviants</a:t>
            </a:r>
          </a:p>
          <a:p>
            <a:endParaRPr lang="en-US" sz="1900" b="1" u="sng" dirty="0">
              <a:highlight>
                <a:srgbClr val="C0C0C0"/>
              </a:highlight>
            </a:endParaRPr>
          </a:p>
          <a:p>
            <a:endParaRPr lang="en-US" b="1" dirty="0">
              <a:highlight>
                <a:srgbClr val="C0C0C0"/>
              </a:highlight>
            </a:endParaRPr>
          </a:p>
          <a:p>
            <a:endParaRPr lang="en-US" b="1" dirty="0">
              <a:highlight>
                <a:srgbClr val="C0C0C0"/>
              </a:highlight>
            </a:endParaRPr>
          </a:p>
        </p:txBody>
      </p:sp>
      <p:sp>
        <p:nvSpPr>
          <p:cNvPr id="20" name="Date Placeholder 3" hidden="1">
            <a:extLst>
              <a:ext uri="{FF2B5EF4-FFF2-40B4-BE49-F238E27FC236}">
                <a16:creationId xmlns:a16="http://schemas.microsoft.com/office/drawing/2014/main" id="{7FEB659E-64CA-418B-5FFA-3E9D0B66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12.02.2026</a:t>
            </a:r>
          </a:p>
        </p:txBody>
      </p:sp>
      <p:sp>
        <p:nvSpPr>
          <p:cNvPr id="28" name="Slide Number Placeholder 4" hidden="1">
            <a:extLst>
              <a:ext uri="{FF2B5EF4-FFF2-40B4-BE49-F238E27FC236}">
                <a16:creationId xmlns:a16="http://schemas.microsoft.com/office/drawing/2014/main" id="{9EF0D7F6-1ED1-BEE2-AE50-4FF352EC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DD2F4C09-65E4-4AD7-8D55-83CBD210ED85}" type="slidenum">
              <a:rPr lang="de-DE" smtClean="0"/>
              <a:pPr>
                <a:spcAft>
                  <a:spcPts val="600"/>
                </a:spcAft>
              </a:pPr>
              <a:t>1</a:t>
            </a:fld>
            <a:endParaRPr lang="de-DE"/>
          </a:p>
        </p:txBody>
      </p:sp>
      <p:pic>
        <p:nvPicPr>
          <p:cNvPr id="57" name="Picture 56" descr="A profile of a person's head&#10;&#10;AI-generated content may be incorrect.">
            <a:extLst>
              <a:ext uri="{FF2B5EF4-FFF2-40B4-BE49-F238E27FC236}">
                <a16:creationId xmlns:a16="http://schemas.microsoft.com/office/drawing/2014/main" id="{33C29DC7-6F10-380B-AAFB-2DD68453B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34" t="11194" b="15503"/>
          <a:stretch>
            <a:fillRect/>
          </a:stretch>
        </p:blipFill>
        <p:spPr>
          <a:xfrm>
            <a:off x="9348000" y="1750479"/>
            <a:ext cx="2855999" cy="2979026"/>
          </a:xfrm>
          <a:prstGeom prst="rect">
            <a:avLst/>
          </a:prstGeom>
          <a:effectLst>
            <a:reflection blurRad="6350" stA="50000" endA="300" endPos="56000" dist="50800" dir="5400000" sy="-100000" algn="bl" rotWithShape="0"/>
          </a:effectLst>
          <a:scene3d>
            <a:camera prst="orthographicFront"/>
            <a:lightRig rig="threePt" dir="t"/>
          </a:scene3d>
          <a:sp3d prstMaterial="clear"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EA936F-61E1-AB2C-5ECE-91EBEB6E8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641" y="13445"/>
            <a:ext cx="2494503" cy="170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14E104-D49F-78BC-F3E9-33033A0CDE9A}"/>
              </a:ext>
            </a:extLst>
          </p:cNvPr>
          <p:cNvSpPr txBox="1"/>
          <p:nvPr/>
        </p:nvSpPr>
        <p:spPr>
          <a:xfrm>
            <a:off x="595745" y="623455"/>
            <a:ext cx="10596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Do Google’s AI Overviews Impact Wikipedia Traffic?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4D515-9206-DC43-3BEF-41D8E022EA82}"/>
              </a:ext>
            </a:extLst>
          </p:cNvPr>
          <p:cNvSpPr txBox="1"/>
          <p:nvPr/>
        </p:nvSpPr>
        <p:spPr>
          <a:xfrm>
            <a:off x="595745" y="1898072"/>
            <a:ext cx="97052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A Cross-Language Signal Analysis Using Google Trends &amp; Wikipedia Pageviews</a:t>
            </a:r>
          </a:p>
          <a:p>
            <a:pPr marL="285750" indent="-285750">
              <a:buFont typeface="Wingdings" pitchFamily="2" charset="2"/>
              <a:buChar char="§"/>
            </a:pP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Google Advanced AI mode has been rolled out in May 2025 across the most of the world.</a:t>
            </a:r>
            <a:endParaRPr lang="en-IN" dirty="0">
              <a:effectLst/>
            </a:endParaRPr>
          </a:p>
          <a:p>
            <a:pPr marL="800100" lvl="1" indent="-342900">
              <a:buFont typeface="+mj-lt"/>
              <a:buAutoNum type="arabicPeriod"/>
            </a:pPr>
            <a:endParaRPr lang="en-IN" dirty="0">
              <a:effectLst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80DA5-56BA-6A12-57E2-373C175BAF82}"/>
              </a:ext>
            </a:extLst>
          </p:cNvPr>
          <p:cNvSpPr txBox="1"/>
          <p:nvPr/>
        </p:nvSpPr>
        <p:spPr>
          <a:xfrm>
            <a:off x="955963" y="3952459"/>
            <a:ext cx="4906664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Top 100 articles from 10 different languages.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Google Trends vs. Wikipedia Pageviews.</a:t>
            </a:r>
            <a:endParaRPr lang="en-IN" dirty="0">
              <a:effectLst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AI Mode as Intervention Signal.</a:t>
            </a:r>
            <a:endParaRPr lang="en-IN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97595-3C16-9C45-BCE0-8A749EC05FB3}"/>
              </a:ext>
            </a:extLst>
          </p:cNvPr>
          <p:cNvSpPr txBox="1"/>
          <p:nvPr/>
        </p:nvSpPr>
        <p:spPr>
          <a:xfrm>
            <a:off x="595745" y="3340764"/>
            <a:ext cx="9642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Wingdings" pitchFamily="2" charset="2"/>
              <a:buChar char="§"/>
            </a:pPr>
            <a:r>
              <a:rPr lang="en-IN" b="0" i="0" dirty="0">
                <a:solidFill>
                  <a:srgbClr val="000000"/>
                </a:solidFill>
                <a:effectLst/>
              </a:rPr>
              <a:t>As AI-generated answers surface directly in search, are users bypassing Wikipedia? 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7913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FBB7D5-AAA7-F432-9E7C-655BBA775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68" y="1387147"/>
            <a:ext cx="7560296" cy="4819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56F523-BA3B-962C-B051-375569F82A42}"/>
              </a:ext>
            </a:extLst>
          </p:cNvPr>
          <p:cNvSpPr txBox="1"/>
          <p:nvPr/>
        </p:nvSpPr>
        <p:spPr>
          <a:xfrm>
            <a:off x="710868" y="452691"/>
            <a:ext cx="4548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Overall Trend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E2D71-7E3F-BF7A-7CB4-398C5E9D0096}"/>
              </a:ext>
            </a:extLst>
          </p:cNvPr>
          <p:cNvSpPr txBox="1"/>
          <p:nvPr/>
        </p:nvSpPr>
        <p:spPr>
          <a:xfrm>
            <a:off x="8568598" y="3013501"/>
            <a:ext cx="3171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IN" sz="1600" i="1" dirty="0"/>
              <a:t>Users are searching just as much, if not more but they are no longer clicking through.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5110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2A1425A-EA69-98DF-9969-BAD290A1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55353"/>
            <a:ext cx="10905066" cy="5261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A8C36C-794B-EB58-6747-7B5A82FFD5DE}"/>
              </a:ext>
            </a:extLst>
          </p:cNvPr>
          <p:cNvSpPr txBox="1"/>
          <p:nvPr/>
        </p:nvSpPr>
        <p:spPr>
          <a:xfrm>
            <a:off x="540332" y="474987"/>
            <a:ext cx="2446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Case Study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B4630-F5CB-E8D8-5583-F946A007B9DF}"/>
              </a:ext>
            </a:extLst>
          </p:cNvPr>
          <p:cNvSpPr txBox="1"/>
          <p:nvPr/>
        </p:nvSpPr>
        <p:spPr>
          <a:xfrm>
            <a:off x="4734045" y="2720050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22.6↑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B02F4-D066-D389-A304-007F008C0DDD}"/>
              </a:ext>
            </a:extLst>
          </p:cNvPr>
          <p:cNvSpPr txBox="1"/>
          <p:nvPr/>
        </p:nvSpPr>
        <p:spPr>
          <a:xfrm>
            <a:off x="10002455" y="4435032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0.36↑</a:t>
            </a:r>
          </a:p>
        </p:txBody>
      </p:sp>
    </p:spTree>
    <p:extLst>
      <p:ext uri="{BB962C8B-B14F-4D97-AF65-F5344CB8AC3E}">
        <p14:creationId xmlns:p14="http://schemas.microsoft.com/office/powerpoint/2010/main" val="65608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116</Words>
  <Application>Microsoft Macintosh PowerPoint</Application>
  <PresentationFormat>Widescreen</PresentationFormat>
  <Paragraphs>23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Ragulapadu Chintaginjala, Sumanth</dc:creator>
  <cp:lastModifiedBy>Ragulapadu Chintaginjala, Sumanth</cp:lastModifiedBy>
  <cp:revision>9</cp:revision>
  <dcterms:created xsi:type="dcterms:W3CDTF">2026-03-08T09:54:16Z</dcterms:created>
  <dcterms:modified xsi:type="dcterms:W3CDTF">2026-03-08T11:11:09Z</dcterms:modified>
</cp:coreProperties>
</file>